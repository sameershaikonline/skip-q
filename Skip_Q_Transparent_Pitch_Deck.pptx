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F37"/>
          </a:solidFill>
          <a:ln w="2540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 rIns="548640"/>
          <a:lstStyle/>
          <a:p>
            <a:pPr algn="ctr">
              <a:defRPr sz="1200" b="1">
                <a:solidFill>
                  <a:srgbClr val="00B4D8"/>
                </a:solidFill>
                <a:latin typeface="Segoe UI"/>
              </a:defRPr>
            </a:pPr>
            <a:r>
              <a:t>JNTUH TBI IDEATHON 2026   •   STARTUP PITCH &amp; FINANCIALS</a:t>
            </a:r>
          </a:p>
          <a:p>
            <a:pPr>
              <a:spcBef>
                <a:spcPts val="1000"/>
              </a:spcBef>
              <a:defRPr sz="5600" b="1">
                <a:solidFill>
                  <a:srgbClr val="00B4D8"/>
                </a:solidFill>
                <a:latin typeface="Segoe UI"/>
              </a:defRPr>
            </a:pPr>
            <a:r>
              <a:t>Skip-Q</a:t>
            </a:r>
          </a:p>
          <a:p>
            <a:pPr>
              <a:spcBef>
                <a:spcPts val="600"/>
              </a:spcBef>
              <a:defRPr sz="2000" b="1">
                <a:solidFill>
                  <a:srgbClr val="FFFFFF"/>
                </a:solidFill>
                <a:latin typeface="Segoe UI"/>
              </a:defRPr>
            </a:pPr>
            <a:r>
              <a:t>Smart OPD Queue Management &amp; Live In-Room Consultation Radar</a:t>
            </a:r>
          </a:p>
          <a:p>
            <a:pPr>
              <a:spcBef>
                <a:spcPts val="600"/>
              </a:spcBef>
              <a:defRPr sz="1400" i="1">
                <a:solidFill>
                  <a:srgbClr val="94A3B8"/>
                </a:solidFill>
                <a:latin typeface="Segoe UI"/>
              </a:defRPr>
            </a:pPr>
            <a:r>
              <a:t>Complete Working Model, Real Unit Economics, Transparent Financials &amp; The Practo Comparison</a:t>
            </a:r>
          </a:p>
          <a:p>
            <a:pPr>
              <a:spcBef>
                <a:spcPts val="2600"/>
              </a:spcBef>
              <a:defRPr sz="1300" b="1">
                <a:solidFill>
                  <a:srgbClr val="10B981"/>
                </a:solidFill>
                <a:latin typeface="Segoe UI"/>
              </a:defRPr>
            </a:pPr>
            <a:r>
              <a:t>Founder: Sameer Shaik   •   JNTUH TBI 2-Day Bootcamp (20–21 August 2026)</a:t>
            </a:r>
            <a:br/>
            <a:r>
              <a:t>Live Web Platform: https://skipq-user.vercel.app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JNTUH TBI IDEATHON 2026   •   01. CONCEPT &amp; PROBLEM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The Real Ground Problem &amp; Skip-Q Solution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3000" b="1">
                <a:solidFill>
                  <a:srgbClr val="FF5A5F"/>
                </a:solidFill>
                <a:latin typeface="Segoe UI"/>
              </a:defRPr>
            </a:pPr>
            <a:r>
              <a:t>01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The Ground Reality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In Tier-2/3 district towns (Mahabubabad, etc.), patients travel 30+ km from villages and wait 2 to 4 hours in crowded waiting halls with zero visibility into doctor arrival or turn.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3000" b="1">
                <a:solidFill>
                  <a:srgbClr val="00B4D8"/>
                </a:solidFill>
                <a:latin typeface="Segoe UI"/>
              </a:defRPr>
            </a:pPr>
            <a:r>
              <a:t>02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The Skip-Q Solution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A live in-room consultation radar showing real-time token numbers ('Now Serving: #14 | Your Token: #18') with auto-countdown arrival times and SMS alerts on their phone.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3000" b="1">
                <a:solidFill>
                  <a:srgbClr val="10B981"/>
                </a:solidFill>
                <a:latin typeface="Segoe UI"/>
              </a:defRPr>
            </a:pPr>
            <a:r>
              <a:t>03</a:t>
            </a:r>
          </a:p>
          <a:p>
            <a:pPr>
              <a:spcBef>
                <a:spcPts val="1000"/>
              </a:spcBef>
              <a:defRPr sz="1700" b="1">
                <a:solidFill>
                  <a:srgbClr val="FFFFFF"/>
                </a:solidFill>
                <a:latin typeface="Segoe UI"/>
              </a:defRPr>
            </a:pPr>
            <a:r>
              <a:t>The Ground Impact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Zero waiting room crowding, 40% faster clinic consultation turnover, zero cross-infection risks, and 100% digital transparency with zero expensive hardware.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JNTUH TBI IDEATHON 2026   •   02. COMPLETE WORKING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End-to-End System Flow: From Home to Doctor Room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10728655" cy="841248"/>
          </a:xfrm>
          <a:prstGeom prst="roundRect">
            <a:avLst/>
          </a:prstGeom>
          <a:solidFill>
            <a:srgbClr val="131F37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Step 1: Geolocation Radar:  Patient opens web app. Location radar auto-detects Mahabubabad town boundary and displays local hospitals with live token boards.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468880"/>
            <a:ext cx="10728655" cy="841248"/>
          </a:xfrm>
          <a:prstGeom prst="roundRect">
            <a:avLst/>
          </a:prstGeom>
          <a:solidFill>
            <a:srgbClr val="131F3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Step 2: Instant 10-Sec Booking:  Patient selects doctor, enters contact details, verifies 6-digit OTP, and secures a digital OPD token pass instantly from home.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429000"/>
            <a:ext cx="10728655" cy="841248"/>
          </a:xfrm>
          <a:prstGeom prst="roundRect">
            <a:avLst/>
          </a:prstGeom>
          <a:solidFill>
            <a:srgbClr val="131F37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Step 3: Live Radar Tracking:  Patient tracks doctor's consultation live on phone ('3 Patients Ahead | Approx 15 Mins'). Patient leaves home only when 2 tokens away.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731520" y="4389120"/>
            <a:ext cx="10728655" cy="841248"/>
          </a:xfrm>
          <a:prstGeom prst="roundRect">
            <a:avLst/>
          </a:prstGeom>
          <a:solidFill>
            <a:srgbClr val="131F37"/>
          </a:solidFill>
          <a:ln w="1524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Step 4: Reception 1-Click Caller:  Receptionist clicks 'Call Next Patient' on the Hospital Portal. Real-time WebSockets auto-advance the queue and send SMS alerts.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5349240"/>
            <a:ext cx="10728655" cy="841248"/>
          </a:xfrm>
          <a:prstGeom prst="roundRect">
            <a:avLst/>
          </a:prstGeom>
          <a:solidFill>
            <a:srgbClr val="131F37"/>
          </a:solidFill>
          <a:ln w="1524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137160" rIns="274320"/>
          <a:lstStyle/>
          <a:p>
            <a:pPr algn="ctr">
              <a:defRPr sz="1200">
                <a:solidFill>
                  <a:srgbClr val="FFFFFF"/>
                </a:solidFill>
                <a:latin typeface="Segoe UI"/>
              </a:defRPr>
            </a:pPr>
            <a:r>
              <a:t>Step 5: Smooth Consultation:  Doctor completes consultation. Next patient enters smoothly with zero reception shouting or door banging.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JNTUH TBI IDEATHON 2026   •   03. MARKET COMPARISON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Why Skip-Q Beats Practo: The Fundamental Differences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10728655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60320"/>
                <a:gridCol w="2743200"/>
                <a:gridCol w="2743200"/>
                <a:gridCol w="2681935"/>
              </a:tblGrid>
              <a:tr h="7848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Key Parameter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Practo / Apollo 24/7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Traditional Kiosks (Qmatic)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Skip-Q (Our Platform)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Core Functionality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Static Calendar Slot (10:30 AM)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Physical TV Screen in Lobby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Live In-Room Token Radar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Waiting Room Reality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Still 1–3 hrs wait on doctor delay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⚠️ Must sit in lobby to see TV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Zero waiting — track from home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Clinic Software Cost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₹12,000 – ₹36,000 / year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₹1.5 Lakh+ per kiosk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₹499 – ₹999 / month flat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Commission on Doctor Fee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15% to 25% cut per patient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None (High CapEx)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0% Commission (Doctor keeps 100%)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Patient App Dependency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❌ Mandatory 80MB app download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Physical paper token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✅ Zero App Install (Instant Web QR)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JNTUH TBI IDEATHON 2026   •   04. OPERATIONS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Zero-Travel Operational Model: 100% Remote &amp; Scalable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00B4D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500" b="1">
                <a:solidFill>
                  <a:srgbClr val="00B4D8"/>
                </a:solidFill>
                <a:latin typeface="Segoe UI"/>
              </a:defRPr>
            </a:pPr>
            <a:r>
              <a:t>1. Zero On-Site Hardware Needed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No kiosks, local servers, or wiring installed at the clinic. The system runs entirely on the receptionist's existing browser (Chrome/Safari) via Vercel &amp; Supabase cloud.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181344" y="150876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500" b="1">
                <a:solidFill>
                  <a:srgbClr val="10B981"/>
                </a:solidFill>
                <a:latin typeface="Segoe UI"/>
              </a:defRPr>
            </a:pPr>
            <a:r>
              <a:t>2. 5-Minute Digital Self-Onboarding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Clinics register online in 5 minutes. Custom QR codes are auto-generated. We courier pre-printed acrylic counter standees directly for ₹120. Zero field deployment teams.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393192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A855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500" b="1">
                <a:solidFill>
                  <a:srgbClr val="A855F7"/>
                </a:solidFill>
                <a:latin typeface="Segoe UI"/>
              </a:defRPr>
            </a:pPr>
            <a:r>
              <a:t>3. 100% Remote Tech Support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Zero travel needed to fix bugs. Centralized cloud updates automatically. Receptionist questions are resolved in under 2 minutes via WhatsApp chat or AnyDesk screen share.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181344" y="3931920"/>
            <a:ext cx="5276088" cy="21945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59E0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320040" tIns="274320" rIns="320040"/>
          <a:lstStyle/>
          <a:p>
            <a:pPr algn="ctr">
              <a:defRPr sz="1500" b="1">
                <a:solidFill>
                  <a:srgbClr val="F59E0B"/>
                </a:solidFill>
                <a:latin typeface="Segoe UI"/>
              </a:defRPr>
            </a:pPr>
            <a:r>
              <a:t>4. Hyperlocal Chemist &amp; IMA Distribution</a:t>
            </a:r>
          </a:p>
          <a:p>
            <a:pPr>
              <a:spcBef>
                <a:spcPts val="800"/>
              </a:spcBef>
              <a:defRPr sz="1250">
                <a:solidFill>
                  <a:srgbClr val="94A3B8"/>
                </a:solidFill>
                <a:latin typeface="Segoe UI"/>
              </a:defRPr>
            </a:pPr>
            <a:r>
              <a:t>We partner with local pharmacies outside hospitals and district IMA WhatsApp groups. Doctors onboard digitally through peer recommendations at sub-₹600 CAC.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JNTUH TBI IDEATHON 2026   •   05. COST BREAKDOWN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Transparent Cost Structure: Real Itemized Numbers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10728655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029200"/>
                <a:gridCol w="2590495"/>
              </a:tblGrid>
              <a:tr h="7848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Cost Line Item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Transparent Technical Calculation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FF5A5F"/>
                          </a:solidFill>
                          <a:latin typeface="Segoe UI"/>
                        </a:defRPr>
                      </a:pPr>
                      <a:r>
                        <a:t>Monthly Cost (₹)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1. Cloud &amp; Database Infrastructure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Vercel Pro (₹1,700) + Supabase Pro DB (₹2,100) + SSL/Domain (₹700)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5A5F"/>
                          </a:solidFill>
                          <a:latin typeface="Segoe UI"/>
                        </a:defRPr>
                      </a:pPr>
                      <a:r>
                        <a:t>₹4,500 / month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2. Bulk SMS &amp; OTP API Gateway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50,000 patient token alerts × ₹0.10 per SMS (MSG91 / Fast2SMS)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5A5F"/>
                          </a:solidFill>
                          <a:latin typeface="Segoe UI"/>
                        </a:defRPr>
                      </a:pPr>
                      <a:r>
                        <a:t>₹5,000 / month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3. Clinic QR Standees &amp; Print Kits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40 clinics × ₹120 per acrylic counter display (amortized over 6 months)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5A5F"/>
                          </a:solidFill>
                          <a:latin typeface="Segoe UI"/>
                        </a:defRPr>
                      </a:pPr>
                      <a:r>
                        <a:t>₹800 / month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4. Local Support &amp; Operations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1 Part-time District Coordinator / Intern stipend for partner coordination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5A5F"/>
                          </a:solidFill>
                          <a:latin typeface="Segoe UI"/>
                        </a:defRPr>
                      </a:pPr>
                      <a:r>
                        <a:t>₹6,000 / month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5. Payment Gateway &amp; Maintenance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Razorpay / Cashfree API charges, WhatsApp Business API &amp; contingency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50" b="1">
                          <a:solidFill>
                            <a:srgbClr val="FF5A5F"/>
                          </a:solidFill>
                          <a:latin typeface="Segoe UI"/>
                        </a:defRPr>
                      </a:pPr>
                      <a:r>
                        <a:t>₹1,700 / month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JNTUH TBI IDEATHON 2026   •   06. REVENUE MODEL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Transparent Revenue Streams: Exact Pricing &amp; Projections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731520" y="1508760"/>
          <a:ext cx="10728655" cy="47091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108960"/>
                <a:gridCol w="5029200"/>
                <a:gridCol w="2590495"/>
              </a:tblGrid>
              <a:tr h="784860"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Revenue Stream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00B4D8"/>
                          </a:solidFill>
                          <a:latin typeface="Segoe UI"/>
                        </a:defRPr>
                      </a:pPr>
                      <a:r>
                        <a:t>Pricing Formula &amp; Volume (40 Clinics Pilot)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100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Monthly Revenue (₹)</a:t>
                      </a:r>
                    </a:p>
                  </a:txBody>
                  <a:tcPr>
                    <a:solidFill>
                      <a:srgbClr val="1B2A4A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1. Hospital SaaS Subscriptions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• 25 Solo Clinics @ ₹499/mo (₹12,475)</a:t>
                      </a:r>
                    </a:p>
                    <a:p>
                      <a:r>
                        <a:t>• 10 Polyclinics @ ₹1,499/mo (₹14,990)</a:t>
                      </a:r>
                    </a:p>
                    <a:p>
                      <a:r>
                        <a:t>• 5 Multi-Doctor Hospitals @ ₹3,499/mo (₹17,495)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₹44,960 / month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2. Digital Token Convenience Fee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25,000 advance digital bookings × ₹5.00 convenience fee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₹1,25,000 / month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3. Platform Processing Fee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25,000 advance digital bookings × ₹2.00 processing charge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₹50,000 / month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4. Live Queue SMS Handling Charge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25,000 advance digital bookings × ₹1.50 live queue alert fee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₹37,500 / month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  <a:tr h="784860"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FFFFFF"/>
                          </a:solidFill>
                          <a:latin typeface="Segoe UI"/>
                        </a:defRPr>
                      </a:pPr>
                      <a:r>
                        <a:t>5. VIP Priority Passes &amp; Pharmacy Tie-ups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0">
                          <a:solidFill>
                            <a:srgbClr val="94A3B8"/>
                          </a:solidFill>
                          <a:latin typeface="Segoe UI"/>
                        </a:defRPr>
                      </a:pPr>
                      <a:r>
                        <a:t>500 Fast-Track Priority Passes @ ₹25 + 600 Pharmacy referrals @ ₹15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000" b="1">
                          <a:solidFill>
                            <a:srgbClr val="10B981"/>
                          </a:solidFill>
                          <a:latin typeface="Segoe UI"/>
                        </a:defRPr>
                      </a:pPr>
                      <a:r>
                        <a:t>₹21,500 / month</a:t>
                      </a:r>
                    </a:p>
                  </a:txBody>
                  <a:tcPr>
                    <a:solidFill>
                      <a:srgbClr val="131F37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10728655" cy="1005840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1000" b="1">
                <a:solidFill>
                  <a:srgbClr val="00B4D8"/>
                </a:solidFill>
                <a:latin typeface="Segoe UI"/>
              </a:defRPr>
            </a:pPr>
            <a:r>
              <a:t>SKIP-Q  |  JNTUH TBI IDEATHON 2026   •   07. FINANCIAL SUMMARY</a:t>
            </a:r>
          </a:p>
          <a:p>
            <a:pPr>
              <a:spcBef>
                <a:spcPts val="400"/>
              </a:spcBef>
              <a:defRPr sz="2200" b="1">
                <a:solidFill>
                  <a:srgbClr val="FFFFFF"/>
                </a:solidFill>
                <a:latin typeface="Segoe UI"/>
              </a:defRPr>
            </a:pPr>
            <a:r>
              <a:t>Key Financial Metrics: Highly Profitable &amp; Scalable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731520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Total Monthly Revenue</a:t>
            </a:r>
          </a:p>
          <a:p>
            <a:pPr>
              <a:spcBef>
                <a:spcPts val="1400"/>
              </a:spcBef>
              <a:defRPr sz="3200" b="1">
                <a:solidFill>
                  <a:srgbClr val="10B981"/>
                </a:solidFill>
                <a:latin typeface="Segoe UI"/>
              </a:defRPr>
            </a:pPr>
            <a:r>
              <a:t>₹2,78,960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Combined SaaS subscriptions, per-token convenience charges, and value-added services.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425696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FF5A5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Total Monthly Operating Cost</a:t>
            </a:r>
          </a:p>
          <a:p>
            <a:pPr>
              <a:spcBef>
                <a:spcPts val="1400"/>
              </a:spcBef>
              <a:defRPr sz="3200" b="1">
                <a:solidFill>
                  <a:srgbClr val="FF5A5F"/>
                </a:solidFill>
                <a:latin typeface="Segoe UI"/>
              </a:defRPr>
            </a:pPr>
            <a:r>
              <a:t>₹18,000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Ultra-lean cloud architecture, bulk SMS at ₹0.10/SMS, zero kiosk hardware costs.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119872" y="1508760"/>
            <a:ext cx="3337560" cy="4709160"/>
          </a:xfrm>
          <a:prstGeom prst="roundRect">
            <a:avLst/>
          </a:prstGeom>
          <a:solidFill>
            <a:srgbClr val="131F37"/>
          </a:solidFill>
          <a:ln w="1905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74320" tIns="365760" rIns="274320"/>
          <a:lstStyle/>
          <a:p>
            <a:pPr algn="ctr">
              <a:defRPr sz="1400" b="1">
                <a:solidFill>
                  <a:srgbClr val="FFFFFF"/>
                </a:solidFill>
                <a:latin typeface="Segoe UI"/>
              </a:defRPr>
            </a:pPr>
            <a:r>
              <a:t>Net Monthly Profit</a:t>
            </a:r>
          </a:p>
          <a:p>
            <a:pPr>
              <a:spcBef>
                <a:spcPts val="1400"/>
              </a:spcBef>
              <a:defRPr sz="3200" b="1">
                <a:solidFill>
                  <a:srgbClr val="10B981"/>
                </a:solidFill>
                <a:latin typeface="Segoe UI"/>
              </a:defRPr>
            </a:pPr>
            <a:r>
              <a:t>₹2,60,960</a:t>
            </a:r>
          </a:p>
          <a:p>
            <a:pPr>
              <a:spcBef>
                <a:spcPts val="1400"/>
              </a:spcBef>
              <a:defRPr sz="1300">
                <a:solidFill>
                  <a:srgbClr val="94A3B8"/>
                </a:solidFill>
                <a:latin typeface="Segoe UI"/>
              </a:defRPr>
            </a:pPr>
            <a:r>
              <a:t>~93% Gross Margin. Highly profitable even at small 40-clinic pilot scale.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128"/>
          </a:solidFill>
          <a:ln>
            <a:solidFill>
              <a:srgbClr val="0A11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731520" y="731520"/>
            <a:ext cx="10728655" cy="5394960"/>
          </a:xfrm>
          <a:prstGeom prst="roundRect">
            <a:avLst/>
          </a:prstGeom>
          <a:solidFill>
            <a:srgbClr val="131F37"/>
          </a:solidFill>
          <a:ln w="25400">
            <a:solidFill>
              <a:srgbClr val="10B98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548640" tIns="548640" rIns="548640"/>
          <a:lstStyle/>
          <a:p>
            <a:pPr algn="ctr">
              <a:defRPr sz="5200" b="1">
                <a:solidFill>
                  <a:srgbClr val="10B981"/>
                </a:solidFill>
                <a:latin typeface="Segoe UI"/>
              </a:defRPr>
            </a:pPr>
            <a:r>
              <a:t>Thank You!</a:t>
            </a:r>
          </a:p>
          <a:p>
            <a:pPr>
              <a:spcBef>
                <a:spcPts val="600"/>
              </a:spcBef>
              <a:defRPr sz="1700" i="1">
                <a:solidFill>
                  <a:srgbClr val="FFFFFF"/>
                </a:solidFill>
                <a:latin typeface="Segoe UI"/>
              </a:defRPr>
            </a:pPr>
            <a:r>
              <a:t>"Eliminating Hospital Waiting Room Chaos through Technology &amp; Transparency"</a:t>
            </a:r>
          </a:p>
          <a:p>
            <a:pPr>
              <a:spcBef>
                <a:spcPts val="2600"/>
              </a:spcBef>
              <a:defRPr sz="1400" b="1">
                <a:solidFill>
                  <a:srgbClr val="00B4D8"/>
                </a:solidFill>
                <a:latin typeface="Segoe UI"/>
              </a:defRPr>
            </a:pPr>
            <a:r>
              <a:t>Live Interactive Demonstration:</a:t>
            </a:r>
            <a:br/>
            <a:r>
              <a:t>• 📱 Patient Web App: https://skipq-user.vercel.app</a:t>
            </a:r>
            <a:br/>
            <a:r>
              <a:t>• 🏢 Hospital Desk Caller: https://skipq-hospital.vercel.app</a:t>
            </a:r>
            <a:br/>
            <a:r>
              <a:t>• 👑 Super Admin Governance Hub: https://skipq-admin.vercel.app</a:t>
            </a:r>
            <a:br/>
            <a:r>
              <a:t>• 💻 Open Source Repository: https://github.com/sameir-dev/Skip-Q.git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