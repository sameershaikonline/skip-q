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0" i="0">
                <a:solidFill>
                  <a:srgbClr val="64B4C8"/>
                </a:solidFill>
                <a:latin typeface="Calibri"/>
              </a:defRPr>
            </a:pPr>
            <a:r>
              <a:t>JNTUH University College of Engineering  •  JNTUH TBI IDEATHON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7200" b="1" i="0">
                <a:solidFill>
                  <a:srgbClr val="FFFFFF"/>
                </a:solidFill>
                <a:latin typeface="Calibri"/>
              </a:defRPr>
            </a:pPr>
            <a:r>
              <a:t>Skip-Q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100" b="0" i="0">
                <a:solidFill>
                  <a:srgbClr val="00C8B4"/>
                </a:solidFill>
                <a:latin typeface="Calibri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Skip-Q eliminates the 2–4 hour waiting room chaos at Tier-2 and Tier-3</a:t>
            </a:r>
            <a:br/>
            <a:r>
              <a:t>district hospitals by giving every patient a live real-time token radar</a:t>
            </a:r>
            <a:br/>
            <a:r>
              <a:t>on their phone — no app, no hardware, zero CapEx.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862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300" b="0" i="0">
                <a:solidFill>
                  <a:srgbClr val="64B4C8"/>
                </a:solidFill>
                <a:latin typeface="Calibri"/>
              </a:defRPr>
            </a:pPr>
            <a:r>
              <a:t>Smart OPD Queue Management  ·  Live In-Room Consultation Radar  ·  Zero Hardware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526280"/>
            <a:ext cx="8961120" cy="960120"/>
          </a:xfrm>
          <a:prstGeom prst="roundRect">
            <a:avLst/>
          </a:prstGeom>
          <a:solidFill>
            <a:srgbClr val="141C3C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663440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950" b="1" i="0">
                <a:solidFill>
                  <a:srgbClr val="00C8B4"/>
                </a:solidFill>
                <a:latin typeface="Calibri"/>
              </a:defRPr>
            </a:pPr>
            <a:r>
              <a:t>🌐  LIVE PRODUCTION PLATFORM: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Patient App: skipq-user.vercel.app   ·   Hospital Portal: skipq-hospital.vercel.app   ·   Admin Hub: skipq-admin.vercel.app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Shaik Sameer (23XX1A0532)   •   M. Thirisha (24XX5A0513)   •   K. Rohith Reddy (23XX1A0516)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00C8B4"/>
                </a:solidFill>
                <a:latin typeface="Calibri"/>
              </a:defRPr>
            </a:pPr>
            <a:r>
              <a:t>02  · 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45720" cy="32004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900" b="1" i="0">
                <a:solidFill>
                  <a:srgbClr val="475569"/>
                </a:solidFill>
                <a:latin typeface="Calibri"/>
              </a:defRPr>
            </a:pPr>
            <a:r>
              <a:t>⬡  Skip-Q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75488"/>
            <a:ext cx="9144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600" b="1" i="0">
                <a:solidFill>
                  <a:srgbClr val="0F172A"/>
                </a:solidFill>
                <a:latin typeface="Calibri"/>
              </a:defRPr>
            </a:pPr>
            <a:r>
              <a:t>Make the pain real and specific.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3474720" cy="109728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173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800" b="1" i="0">
                <a:solidFill>
                  <a:srgbClr val="EF4444"/>
                </a:solidFill>
                <a:latin typeface="Calibri"/>
              </a:defRPr>
            </a:pPr>
            <a:r>
              <a:t>2–4 hrs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Wasted per OPD visit</a:t>
            </a:r>
            <a:br/>
            <a:r>
              <a:t>in Tier-2/3 towns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15384" y="1298448"/>
            <a:ext cx="3474720" cy="109728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4173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800" b="1" i="0">
                <a:solidFill>
                  <a:srgbClr val="EF4444"/>
                </a:solidFill>
                <a:latin typeface="Calibri"/>
              </a:defRPr>
            </a:pPr>
            <a:r>
              <a:t>4.5 Billion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Annual walk-in OPD</a:t>
            </a:r>
            <a:br/>
            <a:r>
              <a:t>consultations in India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9288" y="1298448"/>
            <a:ext cx="3474720" cy="109728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4173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800" b="1" i="0">
                <a:solidFill>
                  <a:srgbClr val="10B981"/>
                </a:solidFill>
                <a:latin typeface="Calibri"/>
              </a:defRPr>
            </a:pPr>
            <a:r>
              <a:t>0%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Of Tier-2/3 clinics</a:t>
            </a:r>
            <a:br/>
            <a:r>
              <a:t>have a digital queue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578608"/>
            <a:ext cx="3474720" cy="3611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61488"/>
            <a:ext cx="3108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EF4444"/>
                </a:solidFill>
                <a:latin typeface="Calibri"/>
              </a:defRPr>
            </a:pPr>
            <a:r>
              <a:t>😩  Invisible Wait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Patient travels 35 km, waits 3 hours on a wooden bench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Zero visibility into when doctor will call them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No way to know if doctor has even arrived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5384" y="2578608"/>
            <a:ext cx="3474720" cy="3611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2761488"/>
            <a:ext cx="3108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F59E0B"/>
                </a:solidFill>
                <a:latin typeface="Calibri"/>
              </a:defRPr>
            </a:pPr>
            <a:r>
              <a:t>🏙️  Metro-Only Platforms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Practo, Apollo 24/7 serve only urban corporate hospitals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₹12,000 – ₹36,000/yr pricing; unaffordable for small clinics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Calendar slot booking — doesn't solve walk-in OPD chaos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9288" y="2578608"/>
            <a:ext cx="3474720" cy="3611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7" y="2761488"/>
            <a:ext cx="3108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EF4444"/>
                </a:solidFill>
                <a:latin typeface="Calibri"/>
              </a:defRPr>
            </a:pPr>
            <a:r>
              <a:t>🦠  Overcrowded Lobbies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100+ patients packed in small waiting rooms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Airborne disease cross-infection risk is very high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Receptionist asked 'When is my turn?' 200× per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00C8B4"/>
                </a:solidFill>
                <a:latin typeface="Calibri"/>
              </a:defRPr>
            </a:pPr>
            <a:r>
              <a:t>03  · 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457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900" b="1" i="0">
                <a:solidFill>
                  <a:srgbClr val="475569"/>
                </a:solidFill>
                <a:latin typeface="Calibri"/>
              </a:defRPr>
            </a:pPr>
            <a:r>
              <a:t>⬡  Skip-Q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600" b="1" i="0">
                <a:solidFill>
                  <a:srgbClr val="0F172A"/>
                </a:solidFill>
                <a:latin typeface="Calibri"/>
              </a:defRPr>
            </a:pPr>
            <a:r>
              <a:t>Live In-Room Consultation Radar  —  Skip-Q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25880"/>
            <a:ext cx="11430000" cy="12801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6304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800" b="1" i="0">
                <a:solidFill>
                  <a:srgbClr val="057850"/>
                </a:solidFill>
                <a:latin typeface="Calibri"/>
              </a:defRPr>
            </a:pPr>
            <a:r>
              <a:t>📺  "Now Serving Token #14     Your Token: #18     ⏱ Est. Arrival: 15 Minutes"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75569"/>
                </a:solidFill>
                <a:latin typeface="Calibri"/>
              </a:defRPr>
            </a:pPr>
            <a:r>
              <a:t>This is what every patient sees live on their phone — real-time, no app download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761488"/>
            <a:ext cx="539496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44368"/>
            <a:ext cx="5029200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10B981"/>
                </a:solidFill>
                <a:latin typeface="Calibri"/>
              </a:defRPr>
            </a:pPr>
            <a:r>
              <a:t>📡  Zero-App Live Radar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Opens in mobile browser via QR scan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Sub-second real-time WebSocket updates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Works on ANY phone with 4G/5G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8" y="2761488"/>
            <a:ext cx="539496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944368"/>
            <a:ext cx="5029200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6366F1"/>
                </a:solidFill>
                <a:latin typeface="Calibri"/>
              </a:defRPr>
            </a:pPr>
            <a:r>
              <a:t>🎟️  10-Second Digital Pass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Instant booking with mobile OTP verification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Live SMS alerts when 2–3 tokens away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Patient leaves home only when nearly their turn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846320"/>
            <a:ext cx="539496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29200"/>
            <a:ext cx="5029200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00C8B4"/>
                </a:solidFill>
                <a:latin typeface="Calibri"/>
              </a:defRPr>
            </a:pPr>
            <a:r>
              <a:t>💻  Zero CapEx for Clinics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No kiosk, no server, no wiring installation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Runs on receptionist's existing Chrome browser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QR acrylic standee couriered for ₹120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4846320"/>
            <a:ext cx="539496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5029200"/>
            <a:ext cx="5029200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F59E0B"/>
                </a:solidFill>
                <a:latin typeface="Calibri"/>
              </a:defRPr>
            </a:pPr>
            <a:r>
              <a:t>📍  Hyperlocal Town Radar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OpenStreetMap geofencing for district towns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Auto-detects clinics within town boundary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Built specifically for Tier-2/3 Bharat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00C8B4"/>
                </a:solidFill>
                <a:latin typeface="Calibri"/>
              </a:defRPr>
            </a:pPr>
            <a:r>
              <a:t>04  ·  WHY NOW?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457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900" b="1" i="0">
                <a:solidFill>
                  <a:srgbClr val="475569"/>
                </a:solidFill>
                <a:latin typeface="Calibri"/>
              </a:defRPr>
            </a:pPr>
            <a:r>
              <a:t>⬡  Skip-Q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600" b="1" i="0">
                <a:solidFill>
                  <a:srgbClr val="0F172A"/>
                </a:solidFill>
                <a:latin typeface="Calibri"/>
              </a:defRPr>
            </a:pPr>
            <a:r>
              <a:t>The Convergence Window Is Open Right Now in Bharat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1143000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82296" cy="1444752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002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400" b="1" i="0">
                <a:solidFill>
                  <a:srgbClr val="00C8B4"/>
                </a:solidFill>
                <a:latin typeface="Calibri"/>
              </a:defRPr>
            </a:pPr>
            <a:r>
              <a:t>📶  5G &amp; Smartphone Explosion in Tier-2/3 Towns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150" b="0" i="0">
                <a:solidFill>
                  <a:srgbClr val="475569"/>
                </a:solidFill>
                <a:latin typeface="Calibri"/>
              </a:defRPr>
            </a:pPr>
            <a:r>
              <a:t>85%+ of rural families in Telangana's district towns carry 4G/5G smartphones with UPI. They already order food, book tickets, and pay bills digitally — healthcare queue management is the last frontier.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035808"/>
            <a:ext cx="1143000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035808"/>
            <a:ext cx="82296" cy="14447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218688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400" b="1" i="0">
                <a:solidFill>
                  <a:srgbClr val="EF4444"/>
                </a:solidFill>
                <a:latin typeface="Calibri"/>
              </a:defRPr>
            </a:pPr>
            <a:r>
              <a:t>🦠  Post-COVID Waiting Room De-Congestion Mandate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150" b="0" i="0">
                <a:solidFill>
                  <a:srgbClr val="475569"/>
                </a:solidFill>
                <a:latin typeface="Calibri"/>
              </a:defRPr>
            </a:pPr>
            <a:r>
              <a:t>Doctors and patients now actively refuse to sit in packed 100-person lobbies. Hospital infection prevention has moved from 'nice-to-have' to a non-negotiable government directive.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654296"/>
            <a:ext cx="1143000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4654296"/>
            <a:ext cx="82296" cy="14447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837176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🏛️  Ayushman Bharat Digital Mission (ABDM) Push</a:t>
            </a:r>
          </a:p>
          <a:p>
            <a:pPr algn="l">
              <a:spcBef>
                <a:spcPts val="500"/>
              </a:spcBef>
              <a:spcAft>
                <a:spcPts val="0"/>
              </a:spcAft>
              <a:defRPr sz="1150" b="0" i="0">
                <a:solidFill>
                  <a:srgbClr val="475569"/>
                </a:solidFill>
                <a:latin typeface="Calibri"/>
              </a:defRPr>
            </a:pPr>
            <a:r>
              <a:t>Government of India is actively mandating digital OPD queue management, health IDs, and digital records across all public and private hospitals — creating regulatory tailwind for Skip-Q.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00C8B4"/>
                </a:solidFill>
                <a:latin typeface="Calibri"/>
              </a:defRPr>
            </a:pPr>
            <a:r>
              <a:t>05  ·  MARKET 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45720" cy="320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900" b="1" i="0">
                <a:solidFill>
                  <a:srgbClr val="475569"/>
                </a:solidFill>
                <a:latin typeface="Calibri"/>
              </a:defRPr>
            </a:pPr>
            <a:r>
              <a:t>⬡  Skip-Q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91440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600" b="1" i="0">
                <a:solidFill>
                  <a:srgbClr val="0F172A"/>
                </a:solidFill>
                <a:latin typeface="Calibri"/>
              </a:defRPr>
            </a:pPr>
            <a:r>
              <a:t>TAM  /  SAM  /  SOM  —  Realistic, Not Fantasy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25880"/>
            <a:ext cx="347472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3474720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27048"/>
            <a:ext cx="310896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TAM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50" b="0" i="0">
                <a:solidFill>
                  <a:srgbClr val="475569"/>
                </a:solidFill>
                <a:latin typeface="Calibri"/>
              </a:defRPr>
            </a:pPr>
            <a:r>
              <a:t>Total Addressable Market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2400" b="1" i="0">
                <a:solidFill>
                  <a:srgbClr val="0F172A"/>
                </a:solidFill>
                <a:latin typeface="Calibri"/>
              </a:defRPr>
            </a:pPr>
            <a:r>
              <a:t>₹1.8 Lakh Crore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4.5 Billion annual outpatient OPD consultations across 70,000+ hospitals in India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15384" y="1581912"/>
            <a:ext cx="3474720" cy="4069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15384" y="1581912"/>
            <a:ext cx="3474720" cy="82296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783080"/>
            <a:ext cx="310896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400" b="1" i="0">
                <a:solidFill>
                  <a:srgbClr val="00C8B4"/>
                </a:solidFill>
                <a:latin typeface="Calibri"/>
              </a:defRPr>
            </a:pPr>
            <a:r>
              <a:t>SAM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50" b="0" i="0">
                <a:solidFill>
                  <a:srgbClr val="475569"/>
                </a:solidFill>
                <a:latin typeface="Calibri"/>
              </a:defRPr>
            </a:pPr>
            <a:r>
              <a:t>Serviceable Addressable Market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2400" b="1" i="0">
                <a:solidFill>
                  <a:srgbClr val="0F172A"/>
                </a:solidFill>
                <a:latin typeface="Calibri"/>
              </a:defRPr>
            </a:pPr>
            <a:r>
              <a:t>₹850 Crore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25,000+ private nursing homes, polyclinics, and solo clinics in Tier-2/3 Telangana &amp; Andhra Pradesh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9288" y="1837943"/>
            <a:ext cx="3474720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9288" y="1837943"/>
            <a:ext cx="347472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7" y="2039112"/>
            <a:ext cx="310896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400" b="1" i="0">
                <a:solidFill>
                  <a:srgbClr val="10B981"/>
                </a:solidFill>
                <a:latin typeface="Calibri"/>
              </a:defRPr>
            </a:pPr>
            <a:r>
              <a:t>SOM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50" b="0" i="0">
                <a:solidFill>
                  <a:srgbClr val="475569"/>
                </a:solidFill>
                <a:latin typeface="Calibri"/>
              </a:defRPr>
            </a:pPr>
            <a:r>
              <a:t>Serviceable Obtainable Market  (12-Month Target)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2400" b="1" i="0">
                <a:solidFill>
                  <a:srgbClr val="0F172A"/>
                </a:solidFill>
                <a:latin typeface="Calibri"/>
              </a:defRPr>
            </a:pPr>
            <a:r>
              <a:t>₹4.2 Crore ARR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350 target clinics across 5 Telangana launch districts: Mahabubabad, Warangal, Khammam, Suryapet, Karimnagar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00C8B4"/>
                </a:solidFill>
                <a:latin typeface="Calibri"/>
              </a:defRPr>
            </a:pPr>
            <a:r>
              <a:t>06  ·  COMPETITION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4572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900" b="1" i="0">
                <a:solidFill>
                  <a:srgbClr val="475569"/>
                </a:solidFill>
                <a:latin typeface="Calibri"/>
              </a:defRPr>
            </a:pPr>
            <a:r>
              <a:t>⬡  Skip-Q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600" b="1" i="0">
                <a:solidFill>
                  <a:srgbClr val="0F172A"/>
                </a:solidFill>
                <a:latin typeface="Calibri"/>
              </a:defRPr>
            </a:pPr>
            <a:r>
              <a:t>Skip-Q's Unfair Advantage vs. Every Alternative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2651760" cy="502920"/>
          </a:xfrm>
          <a:prstGeom prst="roundRect">
            <a:avLst/>
          </a:prstGeom>
          <a:solidFill>
            <a:srgbClr val="EDF2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44475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100" b="1" i="0">
                <a:solidFill>
                  <a:srgbClr val="475569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3063240" y="1371600"/>
            <a:ext cx="2880360" cy="502920"/>
          </a:xfrm>
          <a:prstGeom prst="roundRect">
            <a:avLst/>
          </a:prstGeom>
          <a:solidFill>
            <a:srgbClr val="EDF2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1444752"/>
            <a:ext cx="26974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100" b="1" i="0">
                <a:solidFill>
                  <a:srgbClr val="475569"/>
                </a:solidFill>
                <a:latin typeface="Calibri"/>
              </a:defRPr>
            </a:pPr>
            <a:r>
              <a:t>Practo / Apollo 24/7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371600"/>
            <a:ext cx="2880360" cy="502920"/>
          </a:xfrm>
          <a:prstGeom prst="roundRect">
            <a:avLst/>
          </a:prstGeom>
          <a:solidFill>
            <a:srgbClr val="EDF2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3328" y="1444752"/>
            <a:ext cx="26974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100" b="1" i="0">
                <a:solidFill>
                  <a:srgbClr val="475569"/>
                </a:solidFill>
                <a:latin typeface="Calibri"/>
              </a:defRPr>
            </a:pPr>
            <a:r>
              <a:t>Hardware Kiosks</a:t>
            </a:r>
            <a:br/>
            <a:r>
              <a:t>(Qmatic / Drlogy)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371600"/>
            <a:ext cx="2880360" cy="50292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3688" y="1444752"/>
            <a:ext cx="269747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100" b="1" i="0">
                <a:solidFill>
                  <a:srgbClr val="10B981"/>
                </a:solidFill>
                <a:latin typeface="Calibri"/>
              </a:defRPr>
            </a:pPr>
            <a:r>
              <a:t>⬡  Skip-Q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1938528"/>
            <a:ext cx="26517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029968"/>
            <a:ext cx="24688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50" b="1" i="0">
                <a:solidFill>
                  <a:srgbClr val="0F172A"/>
                </a:solidFill>
                <a:latin typeface="Calibri"/>
              </a:defRPr>
            </a:pPr>
            <a:r>
              <a:t>Core Functionality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1938528"/>
            <a:ext cx="2880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72968" y="2029968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Calendar Slot (10:30 AM)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938528"/>
            <a:ext cx="2880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3328" y="2029968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Physical TV screen in lobby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938528"/>
            <a:ext cx="2880360" cy="86868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3688" y="2029968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1" i="0">
                <a:solidFill>
                  <a:srgbClr val="10B981"/>
                </a:solidFill>
                <a:latin typeface="Calibri"/>
              </a:defRPr>
            </a:pPr>
            <a:r>
              <a:t>Live In-Room Token Radar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2871216"/>
            <a:ext cx="2651760" cy="868680"/>
          </a:xfrm>
          <a:prstGeom prst="roundRect">
            <a:avLst/>
          </a:prstGeom>
          <a:solidFill>
            <a:srgbClr val="FFFCFC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2962656"/>
            <a:ext cx="24688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50" b="1" i="0">
                <a:solidFill>
                  <a:srgbClr val="0F172A"/>
                </a:solidFill>
                <a:latin typeface="Calibri"/>
              </a:defRPr>
            </a:pPr>
            <a:r>
              <a:t>Waiting Room Chaos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2871216"/>
            <a:ext cx="2880360" cy="868680"/>
          </a:xfrm>
          <a:prstGeom prst="roundRect">
            <a:avLst/>
          </a:prstGeom>
          <a:solidFill>
            <a:srgbClr val="FFFCFC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2968" y="2962656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❌ Still 1–3 hr wait on delay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2871216"/>
            <a:ext cx="2880360" cy="868680"/>
          </a:xfrm>
          <a:prstGeom prst="roundRect">
            <a:avLst/>
          </a:prstGeom>
          <a:solidFill>
            <a:srgbClr val="FFFCFC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2962656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⚠️ Must stay in lobby to see TV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2871216"/>
            <a:ext cx="2880360" cy="86868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33688" y="2962656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1" i="0">
                <a:solidFill>
                  <a:srgbClr val="10B981"/>
                </a:solidFill>
                <a:latin typeface="Calibri"/>
              </a:defRPr>
            </a:pPr>
            <a:r>
              <a:t>✅ Track from home, leave on 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3803904"/>
            <a:ext cx="26517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3895344"/>
            <a:ext cx="24688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50" b="1" i="0">
                <a:solidFill>
                  <a:srgbClr val="0F172A"/>
                </a:solidFill>
                <a:latin typeface="Calibri"/>
              </a:defRPr>
            </a:pPr>
            <a:r>
              <a:t>Clinic Software Cost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3803904"/>
            <a:ext cx="2880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72968" y="3895344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❌ ₹12,000 – ₹36,000 / yr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3803904"/>
            <a:ext cx="2880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53328" y="3895344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❌ ₹1.5 Lakh+ per kiosk machine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3960" y="3803904"/>
            <a:ext cx="2880360" cy="86868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33688" y="3895344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1" i="0">
                <a:solidFill>
                  <a:srgbClr val="10B981"/>
                </a:solidFill>
                <a:latin typeface="Calibri"/>
              </a:defRPr>
            </a:pPr>
            <a:r>
              <a:t>✅ ₹499 – ₹999 / month flat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736592"/>
            <a:ext cx="2651760" cy="868680"/>
          </a:xfrm>
          <a:prstGeom prst="roundRect">
            <a:avLst/>
          </a:prstGeom>
          <a:solidFill>
            <a:srgbClr val="FFFCFC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" y="4828031"/>
            <a:ext cx="24688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50" b="1" i="0">
                <a:solidFill>
                  <a:srgbClr val="0F172A"/>
                </a:solidFill>
                <a:latin typeface="Calibri"/>
              </a:defRPr>
            </a:pPr>
            <a:r>
              <a:t>Doctor's Commission Cut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63240" y="4736592"/>
            <a:ext cx="2880360" cy="868680"/>
          </a:xfrm>
          <a:prstGeom prst="roundRect">
            <a:avLst/>
          </a:prstGeom>
          <a:solidFill>
            <a:srgbClr val="FFFCFC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72968" y="4828031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❌ 15–25% per consultation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4736592"/>
            <a:ext cx="2880360" cy="868680"/>
          </a:xfrm>
          <a:prstGeom prst="roundRect">
            <a:avLst/>
          </a:prstGeom>
          <a:solidFill>
            <a:srgbClr val="FFFCFC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53328" y="4828031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None (but high CapEx)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23960" y="4736592"/>
            <a:ext cx="2880360" cy="86868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33688" y="4828031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1" i="0">
                <a:solidFill>
                  <a:srgbClr val="10B981"/>
                </a:solidFill>
                <a:latin typeface="Calibri"/>
              </a:defRPr>
            </a:pPr>
            <a:r>
              <a:t>✅ 0% — Doctor keeps 100%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5669280"/>
            <a:ext cx="26517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" y="5760720"/>
            <a:ext cx="24688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50" b="1" i="0">
                <a:solidFill>
                  <a:srgbClr val="0F172A"/>
                </a:solidFill>
                <a:latin typeface="Calibri"/>
              </a:defRPr>
            </a:pPr>
            <a:r>
              <a:t>Patient App Requirement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63240" y="5669280"/>
            <a:ext cx="2880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72968" y="5760720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❌ 80 MB mandatory app install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0" y="5669280"/>
            <a:ext cx="28803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53328" y="5760720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0" i="0">
                <a:solidFill>
                  <a:srgbClr val="475569"/>
                </a:solidFill>
                <a:latin typeface="Calibri"/>
              </a:defRPr>
            </a:pPr>
            <a:r>
              <a:t>Physical paper token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23960" y="5669280"/>
            <a:ext cx="2880360" cy="86868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33688" y="5760720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050" b="1" i="0">
                <a:solidFill>
                  <a:srgbClr val="10B981"/>
                </a:solidFill>
                <a:latin typeface="Calibri"/>
              </a:defRPr>
            </a:pPr>
            <a:r>
              <a:t>✅ Zero app — Instant Web QR scan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00C8B4"/>
                </a:solidFill>
                <a:latin typeface="Calibri"/>
              </a:defRPr>
            </a:pPr>
            <a:r>
              <a:t>07  · 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45720" cy="32004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900" b="1" i="0">
                <a:solidFill>
                  <a:srgbClr val="475569"/>
                </a:solidFill>
                <a:latin typeface="Calibri"/>
              </a:defRPr>
            </a:pPr>
            <a:r>
              <a:t>⬡  Skip-Q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600" b="1" i="0">
                <a:solidFill>
                  <a:srgbClr val="0F172A"/>
                </a:solidFill>
                <a:latin typeface="Calibri"/>
              </a:defRPr>
            </a:pPr>
            <a:r>
              <a:t>3-Portal Unified Product — Live in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89888"/>
            <a:ext cx="3657600" cy="5166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89888"/>
            <a:ext cx="3657600" cy="9144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36192"/>
            <a:ext cx="32918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300" b="1" i="0">
                <a:solidFill>
                  <a:srgbClr val="00C8B4"/>
                </a:solidFill>
                <a:latin typeface="Calibri"/>
              </a:defRPr>
            </a:pPr>
            <a:r>
              <a:t>📱  Patient Web App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50" b="0" i="1">
                <a:solidFill>
                  <a:srgbClr val="94A3B8"/>
                </a:solidFill>
                <a:latin typeface="Calibri"/>
              </a:defRPr>
            </a:pPr>
            <a:r>
              <a:t>skipq-user.vercel.app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Hyperlocal town radar detects nearby clinics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Real-time countdown: 'Token #18 | 3 Ahead | 15 Min'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10-second OTP booking → Digital token pass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Automated SMS alert when 2 tokens away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Works on any phone — Zero app install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389888"/>
            <a:ext cx="3657600" cy="5166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389888"/>
            <a:ext cx="36576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536192"/>
            <a:ext cx="32918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300" b="1" i="0">
                <a:solidFill>
                  <a:srgbClr val="10B981"/>
                </a:solidFill>
                <a:latin typeface="Calibri"/>
              </a:defRPr>
            </a:pPr>
            <a:r>
              <a:t>🏢  Hospital Desk Portal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50" b="0" i="1">
                <a:solidFill>
                  <a:srgbClr val="94A3B8"/>
                </a:solidFill>
                <a:latin typeface="Calibri"/>
              </a:defRPr>
            </a:pPr>
            <a:r>
              <a:t>skipq-hospital.vercel.app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1-Click 'Call Next Patient' desk controller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Doctor session manager &amp; OPD schedule board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Emergency priority token override &amp; patient recall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Daily patient throughput &amp; efficiency analytics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Auto-syncs with patient phones in real-time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5" y="1389888"/>
            <a:ext cx="3657600" cy="5166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5" y="1389888"/>
            <a:ext cx="365760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5" y="1536192"/>
            <a:ext cx="32918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300" b="1" i="0">
                <a:solidFill>
                  <a:srgbClr val="6366F1"/>
                </a:solidFill>
                <a:latin typeface="Calibri"/>
              </a:defRPr>
            </a:pPr>
            <a:r>
              <a:t>👑  Super Admin Hub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950" b="0" i="1">
                <a:solidFill>
                  <a:srgbClr val="94A3B8"/>
                </a:solidFill>
                <a:latin typeface="Calibri"/>
              </a:defRPr>
            </a:pPr>
            <a:r>
              <a:t>skipq-admin.vercel.app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District hospital onboarding in under 5 minutes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Doctor credential &amp; profile verification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Live multi-hospital queue monitoring dashboard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Supabase PostgreSQL governance &amp; audit logs</a:t>
            </a:r>
          </a:p>
          <a:p>
            <a:pPr>
              <a:spcBef>
                <a:spcPts val="7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  ✔  Subscription billing &amp; plan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00C8B4"/>
                </a:solidFill>
                <a:latin typeface="Calibri"/>
              </a:defRPr>
            </a:pPr>
            <a:r>
              <a:t>08  ·  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457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900" b="1" i="0">
                <a:solidFill>
                  <a:srgbClr val="475569"/>
                </a:solidFill>
                <a:latin typeface="Calibri"/>
              </a:defRPr>
            </a:pPr>
            <a:r>
              <a:t>⬡  Skip-Q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600" b="1" i="0">
                <a:solidFill>
                  <a:srgbClr val="0F172A"/>
                </a:solidFill>
                <a:latin typeface="Calibri"/>
              </a:defRPr>
            </a:pPr>
            <a:r>
              <a:t>Dual Revenue Engine: B2B SaaS + B2C Per-Token Fees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3474720" cy="1371600"/>
          </a:xfrm>
          <a:prstGeom prst="roundRect">
            <a:avLst/>
          </a:prstGeom>
          <a:solidFill>
            <a:srgbClr val="EDF2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200" b="1" i="0">
                <a:solidFill>
                  <a:srgbClr val="10B981"/>
                </a:solidFill>
                <a:latin typeface="Calibri"/>
              </a:defRPr>
            </a:pPr>
            <a:r>
              <a:t>₹2,78,960 / mo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Gross Monthly Revenue</a:t>
            </a:r>
            <a:br/>
            <a:r>
              <a:t>(40-Clinic Pilot)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15384" y="1298448"/>
            <a:ext cx="3474720" cy="1371600"/>
          </a:xfrm>
          <a:prstGeom prst="roundRect">
            <a:avLst/>
          </a:prstGeom>
          <a:solidFill>
            <a:srgbClr val="EDF2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146304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200" b="1" i="0">
                <a:solidFill>
                  <a:srgbClr val="EF4444"/>
                </a:solidFill>
                <a:latin typeface="Calibri"/>
              </a:defRPr>
            </a:pPr>
            <a:r>
              <a:t>₹18,000 / mo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Total Operating Cost</a:t>
            </a:r>
            <a:br/>
            <a:r>
              <a:t>(₹0.36 / patient token)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9288" y="1298448"/>
            <a:ext cx="3474720" cy="1371600"/>
          </a:xfrm>
          <a:prstGeom prst="roundRect">
            <a:avLst/>
          </a:prstGeom>
          <a:solidFill>
            <a:srgbClr val="EDF2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7" y="146304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200" b="1" i="0">
                <a:solidFill>
                  <a:srgbClr val="6366F1"/>
                </a:solidFill>
                <a:latin typeface="Calibri"/>
              </a:defRPr>
            </a:pPr>
            <a:r>
              <a:t>~93%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Gross Margin</a:t>
            </a:r>
            <a:br/>
            <a:r>
              <a:t>(15-day clinic payback)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816352"/>
            <a:ext cx="4572000" cy="457200"/>
          </a:xfrm>
          <a:prstGeom prst="roundRect">
            <a:avLst/>
          </a:prstGeom>
          <a:solidFill>
            <a:srgbClr val="EDF2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889504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1" i="0">
                <a:solidFill>
                  <a:srgbClr val="1E293B"/>
                </a:solidFill>
                <a:latin typeface="Calibri"/>
              </a:defRPr>
            </a:pPr>
            <a:r>
              <a:t>Revenue Stream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816352"/>
            <a:ext cx="4206240" cy="457200"/>
          </a:xfrm>
          <a:prstGeom prst="roundRect">
            <a:avLst/>
          </a:prstGeom>
          <a:solidFill>
            <a:srgbClr val="EDF2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2889504"/>
            <a:ext cx="402335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1" i="0">
                <a:solidFill>
                  <a:srgbClr val="1E293B"/>
                </a:solidFill>
                <a:latin typeface="Calibri"/>
              </a:defRPr>
            </a:pPr>
            <a:r>
              <a:t>Formula (40 Clinics Pilot)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816352"/>
            <a:ext cx="2496312" cy="4572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2889504"/>
            <a:ext cx="23134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1" i="0">
                <a:solidFill>
                  <a:srgbClr val="10B981"/>
                </a:solidFill>
                <a:latin typeface="Calibri"/>
              </a:defRPr>
            </a:pPr>
            <a:r>
              <a:t>Monthly Revenue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337560"/>
            <a:ext cx="45720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342900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1" i="0">
                <a:solidFill>
                  <a:srgbClr val="1E293B"/>
                </a:solidFill>
                <a:latin typeface="Calibri"/>
              </a:defRPr>
            </a:pPr>
            <a:r>
              <a:t>B2B SaaS Subscriptions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3337560"/>
            <a:ext cx="420624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38928" y="3429000"/>
            <a:ext cx="40233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25 Clinics@₹499 + 10 Poly@₹1,499 + 5 Hospitals@₹3,499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3337560"/>
            <a:ext cx="2496312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0888" y="3429000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1" i="0">
                <a:solidFill>
                  <a:srgbClr val="10B981"/>
                </a:solidFill>
                <a:latin typeface="Calibri"/>
              </a:defRPr>
            </a:pPr>
            <a:r>
              <a:t>₹44,960 / mo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005072"/>
            <a:ext cx="45720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4096511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1" i="0">
                <a:solidFill>
                  <a:srgbClr val="1E293B"/>
                </a:solidFill>
                <a:latin typeface="Calibri"/>
              </a:defRPr>
            </a:pPr>
            <a:r>
              <a:t>Per-Token Convenience Fee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4005072"/>
            <a:ext cx="420624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38928" y="4096511"/>
            <a:ext cx="40233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25,000 advance digital bookings × ₹5.00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4005072"/>
            <a:ext cx="2496312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0888" y="4096511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1" i="0">
                <a:solidFill>
                  <a:srgbClr val="10B981"/>
                </a:solidFill>
                <a:latin typeface="Calibri"/>
              </a:defRPr>
            </a:pPr>
            <a:r>
              <a:t>₹1,25,000 / mo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672583"/>
            <a:ext cx="45720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4764023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1" i="0">
                <a:solidFill>
                  <a:srgbClr val="1E293B"/>
                </a:solidFill>
                <a:latin typeface="Calibri"/>
              </a:defRPr>
            </a:pPr>
            <a:r>
              <a:t>Platform Processing Fee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0" y="4672583"/>
            <a:ext cx="420624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38928" y="4764023"/>
            <a:ext cx="40233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25,000 advance digital bookings × ₹2.00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81160" y="4672583"/>
            <a:ext cx="2496312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90888" y="4764023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1" i="0">
                <a:solidFill>
                  <a:srgbClr val="10B981"/>
                </a:solidFill>
                <a:latin typeface="Calibri"/>
              </a:defRPr>
            </a:pPr>
            <a:r>
              <a:t>₹50,000 / mo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5340096"/>
            <a:ext cx="45720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5431536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1" i="0">
                <a:solidFill>
                  <a:srgbClr val="1E293B"/>
                </a:solidFill>
                <a:latin typeface="Calibri"/>
              </a:defRPr>
            </a:pPr>
            <a:r>
              <a:t>Live SMS Handling Charge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5340096"/>
            <a:ext cx="420624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38928" y="5431536"/>
            <a:ext cx="40233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25,000 advance digital bookings × ₹1.50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81160" y="5340096"/>
            <a:ext cx="2496312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90888" y="5431536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1" i="0">
                <a:solidFill>
                  <a:srgbClr val="10B981"/>
                </a:solidFill>
                <a:latin typeface="Calibri"/>
              </a:defRPr>
            </a:pPr>
            <a:r>
              <a:t>₹37,500 / mo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6007608"/>
            <a:ext cx="45720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" y="6099048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1" i="0">
                <a:solidFill>
                  <a:srgbClr val="1E293B"/>
                </a:solidFill>
                <a:latin typeface="Calibri"/>
              </a:defRPr>
            </a:pPr>
            <a:r>
              <a:t>VIP Priority Passes &amp; Pharmacy Referrals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0" y="6007608"/>
            <a:ext cx="420624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38928" y="6099048"/>
            <a:ext cx="40233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0" i="0">
                <a:solidFill>
                  <a:srgbClr val="475569"/>
                </a:solidFill>
                <a:latin typeface="Calibri"/>
              </a:defRPr>
            </a:pPr>
            <a:r>
              <a:t>500 Fast-Track@₹25 + 600 Pharmacy Leads@₹15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81160" y="6007608"/>
            <a:ext cx="2496312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90888" y="6099048"/>
            <a:ext cx="2313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000" b="1" i="0">
                <a:solidFill>
                  <a:srgbClr val="10B981"/>
                </a:solidFill>
                <a:latin typeface="Calibri"/>
              </a:defRPr>
            </a:pPr>
            <a:r>
              <a:t>₹21,500 / 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850" b="1" i="0">
                <a:solidFill>
                  <a:srgbClr val="00C8B4"/>
                </a:solidFill>
                <a:latin typeface="Calibri"/>
              </a:defRPr>
            </a:pPr>
            <a:r>
              <a:t>09  · 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4572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900" b="1" i="0">
                <a:solidFill>
                  <a:srgbClr val="475569"/>
                </a:solidFill>
                <a:latin typeface="Calibri"/>
              </a:defRPr>
            </a:pPr>
            <a:r>
              <a:t>⬡  Skip-Q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600" b="1" i="0">
                <a:solidFill>
                  <a:srgbClr val="0F172A"/>
                </a:solidFill>
                <a:latin typeface="Calibri"/>
              </a:defRPr>
            </a:pPr>
            <a:r>
              <a:t>Why We Are the Right Team to Build Skip-Q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155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150" b="0" i="0">
                <a:solidFill>
                  <a:srgbClr val="475569"/>
                </a:solidFill>
                <a:latin typeface="Calibri"/>
              </a:defRPr>
            </a:pPr>
            <a:r>
              <a:t>JNTUH University College of Engineering  •  Computer Science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572768"/>
            <a:ext cx="36576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20" y="1737360"/>
            <a:ext cx="1188720" cy="1188720"/>
          </a:xfrm>
          <a:prstGeom prst="ellipse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810512"/>
            <a:ext cx="1188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99232"/>
            <a:ext cx="32918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400" b="1" i="0">
                <a:solidFill>
                  <a:srgbClr val="0F172A"/>
                </a:solidFill>
                <a:latin typeface="Calibri"/>
              </a:defRPr>
            </a:pPr>
            <a:r>
              <a:t>Shaik Sameer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950" b="0" i="0">
                <a:solidFill>
                  <a:srgbClr val="94A3B8"/>
                </a:solidFill>
                <a:latin typeface="Calibri"/>
              </a:defRPr>
            </a:pPr>
            <a:r>
              <a:t>23XX1A0532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 sz="1050" b="1" i="0">
                <a:solidFill>
                  <a:srgbClr val="00C8B4"/>
                </a:solidFill>
                <a:latin typeface="Calibri"/>
              </a:defRPr>
            </a:pPr>
            <a:r>
              <a:t>Lead Full-Stack Architect &amp; Founder</a:t>
            </a:r>
          </a:p>
          <a:p>
            <a:pPr>
              <a:spcBef>
                <a:spcPts val="5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  • Built &amp; deployed all 3 live portals (Next.js 14, Supabase, Prisma, WebSockets)</a:t>
            </a:r>
          </a:p>
          <a:p>
            <a:pPr>
              <a:spcBef>
                <a:spcPts val="5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  • Designed complete real-time queue engine from scratch</a:t>
            </a:r>
          </a:p>
          <a:p>
            <a:pPr>
              <a:spcBef>
                <a:spcPts val="5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  • Domain expertise: Tier-2/3 OPD operations in Telangana</a:t>
            </a:r>
          </a:p>
          <a:p>
            <a:pPr>
              <a:spcBef>
                <a:spcPts val="5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  • Manages end-to-end: architecture, deployment, business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572768"/>
            <a:ext cx="36576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50408" y="1737360"/>
            <a:ext cx="1188720" cy="11887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0408" y="1810512"/>
            <a:ext cx="1188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999232"/>
            <a:ext cx="32918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400" b="1" i="0">
                <a:solidFill>
                  <a:srgbClr val="0F172A"/>
                </a:solidFill>
                <a:latin typeface="Calibri"/>
              </a:defRPr>
            </a:pPr>
            <a:r>
              <a:t>M. Thirisha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950" b="0" i="0">
                <a:solidFill>
                  <a:srgbClr val="94A3B8"/>
                </a:solidFill>
                <a:latin typeface="Calibri"/>
              </a:defRPr>
            </a:pPr>
            <a:r>
              <a:t>24XX5A0513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 sz="1050" b="1" i="0">
                <a:solidFill>
                  <a:srgbClr val="8B5CF6"/>
                </a:solidFill>
                <a:latin typeface="Calibri"/>
              </a:defRPr>
            </a:pPr>
            <a:r>
              <a:t>Frontend Engineer &amp; UX Designer</a:t>
            </a:r>
          </a:p>
          <a:p>
            <a:pPr>
              <a:spcBef>
                <a:spcPts val="5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  • Patient Web App UI/UX design and mobile optimization</a:t>
            </a:r>
          </a:p>
          <a:p>
            <a:pPr>
              <a:spcBef>
                <a:spcPts val="5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  • Responsive design for low-end Tier-2/3 smartphone screens</a:t>
            </a:r>
          </a:p>
          <a:p>
            <a:pPr>
              <a:spcBef>
                <a:spcPts val="5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  • Geolocation radar interface and real-time token display</a:t>
            </a:r>
          </a:p>
          <a:p>
            <a:pPr>
              <a:spcBef>
                <a:spcPts val="5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  • Conducted user testing with rural patient cohorts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5" y="1572768"/>
            <a:ext cx="36576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54895" y="1737360"/>
            <a:ext cx="1188720" cy="11887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54895" y="1810512"/>
            <a:ext cx="1188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KR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5" y="2999232"/>
            <a:ext cx="32918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1400" b="1" i="0">
                <a:solidFill>
                  <a:srgbClr val="0F172A"/>
                </a:solidFill>
                <a:latin typeface="Calibri"/>
              </a:defRPr>
            </a:pPr>
            <a:r>
              <a:t>K. Rohith Reddy</a:t>
            </a:r>
          </a:p>
          <a:p>
            <a:pPr algn="ctr">
              <a:spcBef>
                <a:spcPts val="200"/>
              </a:spcBef>
              <a:spcAft>
                <a:spcPts val="0"/>
              </a:spcAft>
              <a:defRPr sz="950" b="0" i="0">
                <a:solidFill>
                  <a:srgbClr val="94A3B8"/>
                </a:solidFill>
                <a:latin typeface="Calibri"/>
              </a:defRPr>
            </a:pPr>
            <a:r>
              <a:t>23XX1A0516</a:t>
            </a:r>
          </a:p>
          <a:p>
            <a:pPr algn="ctr">
              <a:spcBef>
                <a:spcPts val="500"/>
              </a:spcBef>
              <a:spcAft>
                <a:spcPts val="0"/>
              </a:spcAft>
              <a:defRPr sz="1050" b="1" i="0">
                <a:solidFill>
                  <a:srgbClr val="6366F1"/>
                </a:solidFill>
                <a:latin typeface="Calibri"/>
              </a:defRPr>
            </a:pPr>
            <a:r>
              <a:t>Backend Engineer &amp; Data Analyst</a:t>
            </a:r>
          </a:p>
          <a:p>
            <a:pPr>
              <a:spcBef>
                <a:spcPts val="5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  • Supabase PostgreSQL schema design and optimization</a:t>
            </a:r>
          </a:p>
          <a:p>
            <a:pPr>
              <a:spcBef>
                <a:spcPts val="5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  • Bulk SMS API integration (MSG91 / Fast2SMS)</a:t>
            </a:r>
          </a:p>
          <a:p>
            <a:pPr>
              <a:spcBef>
                <a:spcPts val="5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  • Hospital analytics dashboard and reporting engine</a:t>
            </a:r>
          </a:p>
          <a:p>
            <a:pPr>
              <a:spcBef>
                <a:spcPts val="5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  • Market sizing and unit economics financial modelling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900" b="1" i="0">
                <a:solidFill>
                  <a:srgbClr val="475569"/>
                </a:solidFill>
                <a:latin typeface="Calibri"/>
              </a:defRPr>
            </a:pPr>
            <a:r>
              <a:t>⬡  Skip-Q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900" b="0" i="0">
                <a:solidFill>
                  <a:srgbClr val="94A3B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900" b="1" i="0">
                <a:solidFill>
                  <a:srgbClr val="10B981"/>
                </a:solidFill>
                <a:latin typeface="Calibri"/>
              </a:defRPr>
            </a:pPr>
            <a:r>
              <a:t>10  ·  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We are raising ₹5,00,000 in pre-seed funding</a:t>
            </a:r>
            <a:br/>
            <a:r>
              <a:t>to onboard 350 clinics across 5 Telangana districts.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657600" cy="4709160"/>
          </a:xfrm>
          <a:prstGeom prst="roundRect">
            <a:avLst/>
          </a:prstGeom>
          <a:solidFill>
            <a:srgbClr val="141C3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93392"/>
            <a:ext cx="32918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10B981"/>
                </a:solidFill>
                <a:latin typeface="Calibri"/>
              </a:defRPr>
            </a:pPr>
            <a:r>
              <a:t>💰  Seed Grant Ask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₹5,00,000</a:t>
            </a:r>
          </a:p>
          <a:p>
            <a:pPr>
              <a:spcBef>
                <a:spcPts val="7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  → SMS &amp; WhatsApp API Gateway infra: ₹1,50,000</a:t>
            </a:r>
          </a:p>
          <a:p>
            <a:pPr>
              <a:spcBef>
                <a:spcPts val="7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  → 100-clinic QR standee print &amp; courier: ₹1,00,000</a:t>
            </a:r>
          </a:p>
          <a:p>
            <a:pPr>
              <a:spcBef>
                <a:spcPts val="7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  → Server scaling &amp; security audit: ₹1,00,000</a:t>
            </a:r>
          </a:p>
          <a:p>
            <a:pPr>
              <a:spcBef>
                <a:spcPts val="7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  → Field pilot rollout operations: ₹1,50,000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3657600" cy="4709160"/>
          </a:xfrm>
          <a:prstGeom prst="roundRect">
            <a:avLst/>
          </a:prstGeom>
          <a:solidFill>
            <a:srgbClr val="141C3C"/>
          </a:solidFill>
          <a:ln w="1524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993392"/>
            <a:ext cx="32918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00C8B4"/>
                </a:solidFill>
                <a:latin typeface="Calibri"/>
              </a:defRPr>
            </a:pPr>
            <a:r>
              <a:t>🏛️  Incubation Support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JNTUH TBI</a:t>
            </a:r>
          </a:p>
          <a:p>
            <a:pPr>
              <a:spcBef>
                <a:spcPts val="7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  → Pre-incubation cohort placement</a:t>
            </a:r>
          </a:p>
          <a:p>
            <a:pPr>
              <a:spcBef>
                <a:spcPts val="7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  → Facilitation of pilot at TVVP Area Hospital Mahabubabad</a:t>
            </a:r>
          </a:p>
          <a:p>
            <a:pPr>
              <a:spcBef>
                <a:spcPts val="7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  → ABDM compliance &amp; MoHFW regulatory guidance</a:t>
            </a:r>
          </a:p>
          <a:p>
            <a:pPr>
              <a:spcBef>
                <a:spcPts val="7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  → Mentorship on GTM &amp; district doctor networks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1828800"/>
            <a:ext cx="3657600" cy="4709160"/>
          </a:xfrm>
          <a:prstGeom prst="roundRect">
            <a:avLst/>
          </a:prstGeom>
          <a:solidFill>
            <a:srgbClr val="141C3C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5" y="1993392"/>
            <a:ext cx="32918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defRPr sz="1250" b="1" i="0">
                <a:solidFill>
                  <a:srgbClr val="6366F1"/>
                </a:solidFill>
                <a:latin typeface="Calibri"/>
              </a:defRPr>
            </a:pPr>
            <a:r>
              <a:t>🎯  12-Month Milestones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₹5 Lakh MRR</a:t>
            </a:r>
          </a:p>
          <a:p>
            <a:pPr>
              <a:spcBef>
                <a:spcPts val="7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  → Month 1–3: 40-clinic Mahabubabad pilot (72k tokens/mo)</a:t>
            </a:r>
          </a:p>
          <a:p>
            <a:pPr>
              <a:spcBef>
                <a:spcPts val="7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  → Month 4–8: 150 clinics in Warangal &amp; Khammam (₹1.5L MRR)</a:t>
            </a:r>
          </a:p>
          <a:p>
            <a:pPr>
              <a:spcBef>
                <a:spcPts val="7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  → Month 9–12: 500+ clinics, 5 Telangana districts</a:t>
            </a:r>
          </a:p>
          <a:p>
            <a:pPr>
              <a:spcBef>
                <a:spcPts val="700"/>
              </a:spcBef>
              <a:defRPr sz="1000">
                <a:solidFill>
                  <a:srgbClr val="94A3B8"/>
                </a:solidFill>
                <a:latin typeface="Calibri"/>
              </a:defRPr>
            </a:pPr>
            <a:r>
              <a:t>  → Year-2: Expand to all 33 Telangana districts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74552" cy="347472"/>
          </a:xfrm>
          <a:prstGeom prst="rect">
            <a:avLst/>
          </a:prstGeom>
          <a:solidFill>
            <a:srgbClr val="14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defRPr sz="950" b="0" i="0">
                <a:solidFill>
                  <a:srgbClr val="94A3B8"/>
                </a:solidFill>
                <a:latin typeface="Calibri"/>
              </a:defRPr>
            </a:pPr>
            <a:r>
              <a:t>Shaik Sameer (23XX1A0532)   •   M. Thirisha (24XX5A0513)   •   K. Rohith Reddy (23XX1A0516)   •   JNTUH University College of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